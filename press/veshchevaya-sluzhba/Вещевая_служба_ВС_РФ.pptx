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926080"/>
            <a:ext cx="12191695" cy="393192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9A85C"/>
                </a:solidFill>
                <a:latin typeface="Calibri"/>
              </a:rPr>
              <a:t>ВООРУЖЁННЫЕ СИЛЫ РОССИЙСКОЙ ФЕДЕРАЦИИ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E6DCC4"/>
                </a:solidFill>
                <a:latin typeface="Georgia"/>
              </a:rPr>
              <a:t>Вещевая служба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9601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B7B09A"/>
                </a:solidFill>
                <a:latin typeface="Calibri"/>
              </a:rPr>
              <a:t>Подробный обзор системы вещевого обеспечения: законодательство, приказы, нормы снабжения, ВКПО, размеры и ростовка, сроки носки, порядок выдачи и компенсации.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НАВИГАЦИЯ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Содержание презентации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B09A"/>
                </a:solidFill>
                <a:latin typeface="Calibri"/>
              </a:rPr>
              <a:t>Двадцать восемь слайдов — от правовой базы до практических таблиц размеров и сроков носки.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9A85C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5740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6DCC4"/>
                </a:solidFill>
                <a:latin typeface="Calibri"/>
              </a:rPr>
              <a:t>Миссия и место в системе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B09A"/>
                </a:solidFill>
                <a:latin typeface="Calibri"/>
              </a:rPr>
              <a:t>Задачи вещевой службы в тыловом обеспечении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2024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9A85C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05740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6DCC4"/>
                </a:solidFill>
                <a:latin typeface="Calibri"/>
              </a:rPr>
              <a:t>Законодательство и приказы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7744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B09A"/>
                </a:solidFill>
                <a:latin typeface="Calibri"/>
              </a:rPr>
              <a:t>76-ФЗ, ПП № 390, приказ МО № 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2608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9A85C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6324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6DCC4"/>
                </a:solidFill>
                <a:latin typeface="Calibri"/>
              </a:rPr>
              <a:t>Виды имущества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8328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B09A"/>
                </a:solidFill>
                <a:latin typeface="Calibri"/>
              </a:rPr>
              <a:t>Личное, инвентарное, специальное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2608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063240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9A85C"/>
                </a:solidFill>
                <a:latin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06324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6DCC4"/>
                </a:solidFill>
                <a:latin typeface="Calibri"/>
              </a:rPr>
              <a:t>ВКПО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38328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B09A"/>
                </a:solidFill>
                <a:latin typeface="Calibri"/>
              </a:rPr>
              <a:t>Состав комплекта и порядок выдачи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3192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069080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9A85C"/>
                </a:solidFill>
                <a:latin typeface="Georgia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06908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6DCC4"/>
                </a:solidFill>
                <a:latin typeface="Calibri"/>
              </a:rPr>
              <a:t>Сроки носки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38912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B09A"/>
                </a:solidFill>
                <a:latin typeface="Calibri"/>
              </a:rPr>
              <a:t>Типовые сроки и климатические поправки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93192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069080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9A85C"/>
                </a:solidFill>
                <a:latin typeface="Georgia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06908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6DCC4"/>
                </a:solidFill>
                <a:latin typeface="Calibri"/>
              </a:rPr>
              <a:t>Размеры и ростовка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38912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B09A"/>
                </a:solidFill>
                <a:latin typeface="Calibri"/>
              </a:rPr>
              <a:t>ГОСТ, замеры, таблицы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93776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074920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9A85C"/>
                </a:solidFill>
                <a:latin typeface="Georgia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07492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6DCC4"/>
                </a:solidFill>
                <a:latin typeface="Calibri"/>
              </a:rPr>
              <a:t>Специальные нормы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39496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B09A"/>
                </a:solidFill>
                <a:latin typeface="Calibri"/>
              </a:rPr>
              <a:t>Холод, ВМФ, ССО, медицина, спорт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93776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074920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9A85C"/>
                </a:solidFill>
                <a:latin typeface="Georgia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07492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6DCC4"/>
                </a:solidFill>
                <a:latin typeface="Calibri"/>
              </a:rPr>
              <a:t>Практика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394960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B7B09A"/>
                </a:solidFill>
                <a:latin typeface="Calibri"/>
              </a:rPr>
              <a:t>Выдача, учёт, компенсации, изменения 2024–2025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Миссия вещевой службы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B09A"/>
                </a:solidFill>
                <a:latin typeface="Calibri"/>
              </a:rPr>
              <a:t>Вещевое обеспечение — часть материального обеспечения войск: форма, обувь, снаряжение, БПО и учёт.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Главная цель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Своевременно обеспечивать военнослужащих вещевым имуществом по нормам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Учёт климата, рода войск и характера задач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Планирование, снабжение, учёт, ремонт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6596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3055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Ключевые функции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Расчёт потребности и заявок по ростовке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Хранение и отпуск со складов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Подгонка, клеймение, замена по срокам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Банно-прачечное обслуживание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6596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13055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Для кого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46888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Военнослужащие по контракту и по призыву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Курсанты военных вузов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Граждане на военных сборах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Отдельные категории ведомственной охраны МО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Место в системе обеспечения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B09A"/>
                </a:solidFill>
                <a:latin typeface="Calibri"/>
              </a:rPr>
              <a:t>От центральных органов до вещевого склада воинской части.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94560"/>
            <a:ext cx="2194560" cy="329184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8FA86A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6DCC4"/>
                </a:solidFill>
                <a:latin typeface="Calibri"/>
              </a:rPr>
              <a:t>Центральный уровень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9202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7B09A"/>
                </a:solidFill>
                <a:latin typeface="Calibri"/>
              </a:rPr>
              <a:t>Нормы, закупки, централизованное снабжение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56616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C9A85C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194560"/>
            <a:ext cx="2194560" cy="329184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377440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8FA86A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92608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6DCC4"/>
                </a:solidFill>
                <a:latin typeface="Calibri"/>
              </a:rPr>
              <a:t>Округ / флот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657600"/>
            <a:ext cx="19202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7B09A"/>
                </a:solidFill>
                <a:latin typeface="Calibri"/>
              </a:rPr>
              <a:t>Наряды и разнарядки по ростовке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56616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C9A85C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2194560"/>
            <a:ext cx="2194560" cy="329184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377440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8FA86A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92608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6DCC4"/>
                </a:solidFill>
                <a:latin typeface="Calibri"/>
              </a:rPr>
              <a:t>ЦМТО / склады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657600"/>
            <a:ext cx="19202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7B09A"/>
                </a:solidFill>
                <a:latin typeface="Calibri"/>
              </a:rPr>
              <a:t>Хранение запасов, отпуск частям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56616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C9A85C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2194560"/>
            <a:ext cx="2194560" cy="329184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377440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8FA86A"/>
                </a:solidFill>
                <a:latin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92608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6DCC4"/>
                </a:solidFill>
                <a:latin typeface="Calibri"/>
              </a:rPr>
              <a:t>Воинская часть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657600"/>
            <a:ext cx="19202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7B09A"/>
                </a:solidFill>
                <a:latin typeface="Calibri"/>
              </a:rPr>
              <a:t>Склад, карточки, выдача, подгонка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56616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C9A85C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59" y="2194560"/>
            <a:ext cx="2194560" cy="329184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377440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8FA86A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19" y="292608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6DCC4"/>
                </a:solidFill>
                <a:latin typeface="Calibri"/>
              </a:rPr>
              <a:t>Подразделение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19" y="3657600"/>
            <a:ext cx="19202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7B09A"/>
                </a:solidFill>
                <a:latin typeface="Calibri"/>
              </a:rPr>
              <a:t>Закрепление инвентаря, контроль носки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Правовая пирамида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B09A"/>
                </a:solidFill>
                <a:latin typeface="Calibri"/>
              </a:rPr>
              <a:t>Нормы закреплены на уровне закона, постановлений Правительства и ведомственных приказов.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194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9A85C"/>
                </a:solidFill>
                <a:latin typeface="Georgia"/>
              </a:rPr>
              <a:t>76-ФЗ, ст.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03120"/>
            <a:ext cx="81381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7B09A"/>
                </a:solidFill>
                <a:latin typeface="Calibri"/>
              </a:rPr>
              <a:t>О статусе военнослужащих — гарантия вещевого обеспечения и право ряда категорий на компенсацию.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2608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2194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9A85C"/>
                </a:solidFill>
                <a:latin typeface="Georgia"/>
              </a:rPr>
              <a:t>ПП № 390
22.06.2006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108960"/>
            <a:ext cx="81381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7B09A"/>
                </a:solidFill>
                <a:latin typeface="Calibri"/>
              </a:rPr>
              <a:t>О вещевом обеспечении в мирное время. Нормы, правила владения, БПО, компенсации. Изм. ПП № 1116/2025.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2194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9A85C"/>
                </a:solidFill>
                <a:latin typeface="Georgia"/>
              </a:rPr>
              <a:t>Приказ МО
№ 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114800"/>
            <a:ext cx="81381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7B09A"/>
                </a:solidFill>
                <a:latin typeface="Calibri"/>
              </a:rPr>
              <a:t>14.08.2017 (ред. 27.06.2024) — главный «вещевой» документ ВС РФ: Порядок, нормы, специмущество.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3776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2194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9A85C"/>
                </a:solidFill>
                <a:latin typeface="Georgia"/>
              </a:rPr>
              <a:t>Расп. № 1014-р
25.05.2016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120640"/>
            <a:ext cx="81381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7B09A"/>
                </a:solidFill>
                <a:latin typeface="Calibri"/>
              </a:rPr>
              <a:t>Стоимость предметов для выдачи взамен неполученного и расчётов компенсаций.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Приказ МО РФ № 500 — структура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B09A"/>
                </a:solidFill>
                <a:latin typeface="Calibri"/>
              </a:rPr>
              <a:t>«О вещевом обеспечении в Вооружённых Силах Российской Федерации на мирное время».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743200" cy="256032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2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C9A85C"/>
                </a:solidFill>
                <a:latin typeface="Georgia"/>
              </a:rPr>
              <a:t>Прил. №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2423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Порядок обеспечения: выдача, замена, перевод, увольнение, ВКПО.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965960"/>
            <a:ext cx="2743200" cy="256032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2130552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C9A85C"/>
                </a:solidFill>
                <a:latin typeface="Georgia"/>
              </a:rPr>
              <a:t>Прил. №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19" y="2468880"/>
            <a:ext cx="2423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Нормы переходящих и страховых запасов, моющие материалы.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65960"/>
            <a:ext cx="2743200" cy="256032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130552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C9A85C"/>
                </a:solidFill>
                <a:latin typeface="Georgia"/>
              </a:rPr>
              <a:t>Прил. №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2423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Нормы содержания имущества на одного военнослужащего / койку.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59" y="1965960"/>
            <a:ext cx="2743200" cy="256032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59" y="2130552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C9A85C"/>
                </a:solidFill>
                <a:latin typeface="Georgia"/>
              </a:rPr>
              <a:t>Прил. № 4+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39" y="2468880"/>
            <a:ext cx="2423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Специальное, спортивное, полевое имущество, палатки, брезенты.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5488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24301F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8FA86A"/>
                </a:solidFill>
                <a:latin typeface="Georgia"/>
              </a:rPr>
              <a:t>45+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7B09A"/>
                </a:solidFill>
                <a:latin typeface="Calibri"/>
              </a:rPr>
              <a:t>спецнорм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39" y="475488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24301F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19" y="489204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8FA86A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19" y="53949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7B09A"/>
                </a:solidFill>
                <a:latin typeface="Calibri"/>
              </a:rPr>
              <a:t>категории качества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75488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24301F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89204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8FA86A"/>
                </a:solidFill>
                <a:latin typeface="Georgia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3949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7B09A"/>
                </a:solidFill>
                <a:latin typeface="Calibri"/>
              </a:rPr>
              <a:t>запас на призыве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59" y="475488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24301F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39" y="489204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8FA86A"/>
                </a:solidFill>
                <a:latin typeface="Georgia"/>
              </a:rPr>
              <a:t>ВКПО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39" y="53949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7B09A"/>
                </a:solidFill>
                <a:latin typeface="Calibri"/>
              </a:rPr>
              <a:t>базовый комплект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Виды вещевого имущества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B09A"/>
                </a:solidFill>
                <a:latin typeface="Calibri"/>
              </a:rPr>
              <a:t>От вида зависят право собственности, обязанность сдачи и порядок замены.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Личное пользование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Форма, бельё, обувь повседневного назначения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Учёт в карточке вещевого довольствия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Замена по срокам носки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Для отдельных категорий — компенсация деньгами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6596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3055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Инвентарное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ВКПО (кроме исключений), палатки, постовая одежда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Не переходит в личную собственность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Сдаётся при переводе / увольнении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Замена — после сдачи изношенного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6596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13055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Специальное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46888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Лётное, техническое, климатическое, ВМФ, ССО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Нормы № 1–45 и др.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Часто инвентарное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Выдача по назначению / должности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Категории качества имущества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3055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I категория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Новое имущество, не бывшее в употреблении.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Офицеры и прапорщики — ВКПО I категории.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6596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3055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II категория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46888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Бывшее в употреблении, срок не истёк;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либо выслужившее срок, но годное к использованию.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Типично для призывников и периода испытания.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6596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13055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III категория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Непригодное к использованию, срок истёк — списание.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Расходники (носки, мыло) на категории не делятся.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ВКПО — всесезонный комплект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B09A"/>
                </a:solidFill>
                <a:latin typeface="Calibri"/>
              </a:rPr>
              <a:t>Базовый полевой комплект. Предметы ВКПО — преимущественно инвентарные.</a:t>
            </a:r>
          </a:p>
        </p:txBody>
      </p:sp>
      <p:pic>
        <p:nvPicPr>
          <p:cNvPr id="6" name="Picture 5" descr="vkpo-k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5669280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0" y="1965960"/>
            <a:ext cx="493776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21488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Кому выдаётся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65176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Офицеры и прапорщики — ВКПО I категории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Сержанты/солдаты по контракту — I, при отсутствии — II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По призыву — в основном II категория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На испытании контрактника — сезонные предметы II категории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Крайний Север — допускается полная выдача по норме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Многослойный принцип ВКПО</a:t>
            </a:r>
          </a:p>
        </p:txBody>
      </p:sp>
      <p:pic>
        <p:nvPicPr>
          <p:cNvPr id="5" name="Picture 4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84632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828800"/>
            <a:ext cx="5760720" cy="420624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Типовые слои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Базовый — футболка, трусы / бельё, флис, влагоотводящее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Утепляющий — куртка и брюки утеплённые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Основной полевой — костюм летний / демисезонный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Защитный — костюм ветроводозащитный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Головные уборы и обувь — фуражка, ушанка, балаклава, берцы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Аксессуары — перчатки, рукавицы, шарф, баул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Замена — по износу, не ранее срока, после сдачи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Особенности выдачи ВКПО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84832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Призывники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5166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Получают ВКПО преимущественно II категории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При переводе сдают ВКПО, кроме отдельных предметов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Исключения: фуражка летняя, футболка, трусы, костюм летний, ботинки для низких температур — с записью в аттестате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Обязательны подгонка и клеймение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920240"/>
            <a:ext cx="5212080" cy="411480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84832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Контрактники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2316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На Крайнем Севере — полная выдача по норме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При переводе ВКПО/лётное/техническое/ССО — с записью в аттестате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Проживающие вне казармы закрепляют инвентарь в регистрах учёта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Отдельные предметы после срока могут перейти в собственность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E6DCC4"/>
                </a:solidFill>
                <a:latin typeface="Georgia"/>
              </a:rPr>
              <a:t>Сроки носки — типовые ориентиры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B09A"/>
                </a:solidFill>
                <a:latin typeface="Calibri"/>
              </a:rPr>
              <a:t>Точные сроки зависят от нормы, категории и климата. Сверяйте приказ № 500 и карточку довольствия.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124711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657600"/>
                <a:gridCol w="3749039"/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9A85C"/>
                          </a:solidFill>
                          <a:latin typeface="Calibri"/>
                        </a:rPr>
                        <a:t>Предмет</a:t>
                      </a:r>
                    </a:p>
                  </a:txBody>
                  <a:tcPr>
                    <a:solidFill>
                      <a:srgbClr val="2430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9A85C"/>
                          </a:solidFill>
                          <a:latin typeface="Calibri"/>
                        </a:rPr>
                        <a:t>Ориентир срока / нормы</a:t>
                      </a:r>
                    </a:p>
                  </a:txBody>
                  <a:tcPr>
                    <a:solidFill>
                      <a:srgbClr val="2430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9A85C"/>
                          </a:solidFill>
                          <a:latin typeface="Calibri"/>
                        </a:rPr>
                        <a:t>Примечание</a:t>
                      </a:r>
                    </a:p>
                  </a:txBody>
                  <a:tcPr>
                    <a:solidFill>
                      <a:srgbClr val="24301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Футболки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до 3 шт. на 1 год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Личное / расходный характер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Носки / портянки летние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до 6 пар на 1 год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Зимние — до 4 пар на 1 год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Полуботинки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 пара на 2 года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Зависит от нормы категории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Полусапоги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 пара на 3 года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Повседневная / специальная обувь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Ремни поясной / брючный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по 1 шт. на 5 лет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Долгосрочные предметы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Шапка зимняя (оф./прап.)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 шт. на 4 года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п. 56.1 Порядка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Балаклава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 шт. на 5 лет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п. 56.1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Футболка (оф./прап., норма № 1)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2 шт. на 2 года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п. 56.1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Рукавицы утеплённые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 пара на 5 лет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п. 56.1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Сумка (баул)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 шт. на 10 лет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п. 56.1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Бельё влагоотводящее (контракт)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2 комплекта на 1 год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п. 56.2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Климатические поправки к срокам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3055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Умеренный климат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Базовый срок, указанный в норме снабжения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Пример: костюм утеплённый — базовый срок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6596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3055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Холодный / особо холодный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46888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Срок носки костюма утеплённого уменьшается на 1 год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п. 62.1 Порядка — интенсивнее износ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6596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13055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Жаркий климат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Срок костюма утеплённого увеличивается на 1 год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Для ряда предметов ВМФ — отдельные сроки (на 4 года)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94960"/>
            <a:ext cx="10972800" cy="731520"/>
          </a:xfrm>
          <a:prstGeom prst="roundRect">
            <a:avLst>
              <a:gd name="adj" fmla="val 8000"/>
            </a:avLst>
          </a:prstGeom>
          <a:solidFill>
            <a:srgbClr val="24301F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321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6DCC4"/>
                </a:solidFill>
                <a:latin typeface="Calibri"/>
              </a:rPr>
              <a:t>Срок нового предмета начинается со следующего дня после окончания срока ранее выданного одноимённого — «месяцы носки» не теряются.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Система размеров и ростовки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B09A"/>
                </a:solidFill>
                <a:latin typeface="Calibri"/>
              </a:rPr>
              <a:t>ГОСТ 23167-91 и ГОСТ 20881-91. Отпуск со складов — по заявленной ростовке.</a:t>
            </a:r>
          </a:p>
        </p:txBody>
      </p:sp>
      <p:pic>
        <p:nvPicPr>
          <p:cNvPr id="6" name="Picture 5" descr="fi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920240"/>
            <a:ext cx="4846320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920240"/>
            <a:ext cx="576072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Определяющие признаки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Мужчины: рост, обхват груди, обхват талии (полнота)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Женщины: рост, обхват груди, обхват бёдер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Обувь: длина стопы (метрическая, до 0,5 см)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Головные уборы: обхват головы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На сборных пунктах — запас ≈ 10% потребности призыва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Данные → арматурная карточка → ростовка заявок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E6DCC4"/>
                </a:solidFill>
                <a:latin typeface="Georgia"/>
              </a:rPr>
              <a:t>Таблица ростов и размеров (мужчины)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9A85C"/>
                </a:solidFill>
                <a:latin typeface="Calibri"/>
              </a:rPr>
              <a:t>Росты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148840"/>
          <a:ext cx="53035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828800"/>
                <a:gridCol w="2011680"/>
              </a:tblGrid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9A85C"/>
                          </a:solidFill>
                          <a:latin typeface="Calibri"/>
                        </a:rPr>
                        <a:t>Усл. рост</a:t>
                      </a:r>
                    </a:p>
                  </a:txBody>
                  <a:tcPr>
                    <a:solidFill>
                      <a:srgbClr val="2430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9A85C"/>
                          </a:solidFill>
                          <a:latin typeface="Calibri"/>
                        </a:rPr>
                        <a:t>Типовой, см</a:t>
                      </a:r>
                    </a:p>
                  </a:txBody>
                  <a:tcPr>
                    <a:solidFill>
                      <a:srgbClr val="2430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9A85C"/>
                          </a:solidFill>
                          <a:latin typeface="Calibri"/>
                        </a:rPr>
                        <a:t>Диапазон, см</a:t>
                      </a:r>
                    </a:p>
                  </a:txBody>
                  <a:tcPr>
                    <a:solidFill>
                      <a:srgbClr val="24301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158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155 – 160,9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164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161 – 166,9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170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167 – 172,9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176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173 – 178,9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182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179 – 184,9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188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185 – 191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7830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9A85C"/>
                </a:solidFill>
                <a:latin typeface="Calibri"/>
              </a:rPr>
              <a:t>Размер по обхвату груди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148840"/>
          <a:ext cx="54864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920240"/>
                <a:gridCol w="2103120"/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9A85C"/>
                          </a:solidFill>
                          <a:latin typeface="Calibri"/>
                        </a:rPr>
                        <a:t>Размер</a:t>
                      </a:r>
                    </a:p>
                  </a:txBody>
                  <a:tcPr>
                    <a:solidFill>
                      <a:srgbClr val="2430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9A85C"/>
                          </a:solidFill>
                          <a:latin typeface="Calibri"/>
                        </a:rPr>
                        <a:t>Обхват груди</a:t>
                      </a:r>
                    </a:p>
                  </a:txBody>
                  <a:tcPr>
                    <a:solidFill>
                      <a:srgbClr val="2430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9A85C"/>
                          </a:solidFill>
                          <a:latin typeface="Calibri"/>
                        </a:rPr>
                        <a:t>Диапазон</a:t>
                      </a:r>
                    </a:p>
                  </a:txBody>
                  <a:tcPr>
                    <a:solidFill>
                      <a:srgbClr val="24301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86–90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90–94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94–98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98–102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102–106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106–110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110–114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114–118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118–122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Полнотные группы и снятие мерок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920240"/>
          <a:ext cx="5029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9A85C"/>
                          </a:solidFill>
                          <a:latin typeface="Calibri"/>
                        </a:rPr>
                        <a:t>Обхват груди</a:t>
                      </a:r>
                    </a:p>
                  </a:txBody>
                  <a:tcPr>
                    <a:solidFill>
                      <a:srgbClr val="2430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9A85C"/>
                          </a:solidFill>
                          <a:latin typeface="Calibri"/>
                        </a:rPr>
                        <a:t>Обхват талии (гр. 1)</a:t>
                      </a:r>
                    </a:p>
                  </a:txBody>
                  <a:tcPr>
                    <a:solidFill>
                      <a:srgbClr val="24301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64 (62–66)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72 (70–74)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80 (78–82)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88 (86–90)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96 (94–98)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852160" y="1920240"/>
            <a:ext cx="5669280" cy="411480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210312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Как снимают мерки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60604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Рост — от пола до верхушечной точки без обуви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Обхват груди — горизонтально через сосковые точки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Обхват талии / бёдер — по антропометрическим точкам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Стопа — стопомером; размер в метрической системе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Интервалы ГОСТ (оф./прап.): рост ±3, грудь ±2, талия ±3 см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Инструменты: ростомер, сантиметр, стопомер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Климатические местности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84832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Особо холодный — норма №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5166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Части по перечню, утверждаемому НГШ ВС РФ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Полевая форма — при наличии снежного покрова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Дополнительное утепление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Отдельные сроки: шапки, балаклавы, рукавицы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Крайний Север — полная выдача ВКПО по норме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920240"/>
            <a:ext cx="5212080" cy="411480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84832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Жаркий климат и особые районы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2316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Норма № 28 — загранформирования, ООН, жаркий климат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ВМФ — облегчённые костюмы при плавании южнее 40° с. ш.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Горная местность — отдельные правила специмущества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Сроки утеплённых предметов корректируются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E6DCC4"/>
                </a:solidFill>
                <a:latin typeface="Georgia"/>
              </a:rPr>
              <a:t>Специальные нормы снабжения (часть 1)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961120"/>
              </a:tblGrid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9A85C"/>
                          </a:solidFill>
                          <a:latin typeface="Calibri"/>
                        </a:rPr>
                        <a:t>Норма</a:t>
                      </a:r>
                    </a:p>
                  </a:txBody>
                  <a:tcPr>
                    <a:solidFill>
                      <a:srgbClr val="2430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9A85C"/>
                          </a:solidFill>
                          <a:latin typeface="Calibri"/>
                        </a:rPr>
                        <a:t>Категория обеспечиваемых</a:t>
                      </a:r>
                    </a:p>
                  </a:txBody>
                  <a:tcPr>
                    <a:solidFill>
                      <a:srgbClr val="24301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1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Местности с особо холодным климатом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2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Несение боевого дежурства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5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Курсанты-лётчики (штурманы)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6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РВСН и космические войска ВКС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8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Совершающие прыжки с парашютом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9–11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ВМФ, гидрография, аварийно-спасательные работы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12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Постовая одежда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15–16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Работы с РВ/ИИИ и спецбоеприпасами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17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Штатные противопожарные подразделения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20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Эксплуатация и обслуживание ВВТ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E6DCC4"/>
                </a:solidFill>
                <a:latin typeface="Georgia"/>
              </a:rPr>
              <a:t>Специальные нормы снабжения (часть 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961120"/>
              </a:tblGrid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9A85C"/>
                          </a:solidFill>
                          <a:latin typeface="Calibri"/>
                        </a:rPr>
                        <a:t>Норма</a:t>
                      </a:r>
                    </a:p>
                  </a:txBody>
                  <a:tcPr>
                    <a:solidFill>
                      <a:srgbClr val="2430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9A85C"/>
                          </a:solidFill>
                          <a:latin typeface="Calibri"/>
                        </a:rPr>
                        <a:t>Категория обеспечиваемых</a:t>
                      </a:r>
                    </a:p>
                  </a:txBody>
                  <a:tcPr>
                    <a:solidFill>
                      <a:srgbClr val="24301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21–25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Медицина, санатории, роддома, переливание крови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27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Творческий состав ансамблей и оркестров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28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Загранформирования / жаркий климат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30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Специальное и альпинистское имущество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32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Спортивное имущество (изм. № 367/2024 — регби)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33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Церемониальная форма почётного караула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34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Силы специальных операций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36–37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Палатки; брезенты и мягкие контейнеры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38–40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Обозное и подковное имущество, мази</a:t>
                      </a:r>
                    </a:p>
                  </a:txBody>
                  <a:tcPr>
                    <a:solidFill>
                      <a:srgbClr val="161C12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№ 45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6DCC4"/>
                          </a:solidFill>
                          <a:latin typeface="Calibri"/>
                        </a:rPr>
                        <a:t>Военный инновационный технополис «ЭРА»</a:t>
                      </a:r>
                    </a:p>
                  </a:txBody>
                  <a:tcPr>
                    <a:solidFill>
                      <a:srgbClr val="1B221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Порядок получения и замены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194560"/>
            <a:ext cx="2194560" cy="329184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8FA86A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920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6DCC4"/>
                </a:solidFill>
                <a:latin typeface="Calibri"/>
              </a:rPr>
              <a:t>Прибытие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9202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7B09A"/>
                </a:solidFill>
                <a:latin typeface="Calibri"/>
              </a:rPr>
              <a:t>Замеры, подгонка, первичный комплект, карточка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194560"/>
            <a:ext cx="2194560" cy="329184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377440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8FA86A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971800"/>
            <a:ext cx="1920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6DCC4"/>
                </a:solidFill>
                <a:latin typeface="Calibri"/>
              </a:rPr>
              <a:t>Носка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657600"/>
            <a:ext cx="19202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7B09A"/>
                </a:solidFill>
                <a:latin typeface="Calibri"/>
              </a:rPr>
              <a:t>Использование по назначению, закрепление инвентаря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194560"/>
            <a:ext cx="2194560" cy="329184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377440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8FA86A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71800"/>
            <a:ext cx="1920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6DCC4"/>
                </a:solidFill>
                <a:latin typeface="Calibri"/>
              </a:rPr>
              <a:t>Истечение срока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657600"/>
            <a:ext cx="19202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7B09A"/>
                </a:solidFill>
                <a:latin typeface="Calibri"/>
              </a:rPr>
              <a:t>Прибытие на склад / в ателье за заменой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194560"/>
            <a:ext cx="2194560" cy="329184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377440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8FA86A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971800"/>
            <a:ext cx="1920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6DCC4"/>
                </a:solidFill>
                <a:latin typeface="Calibri"/>
              </a:rPr>
              <a:t>Сдача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657600"/>
            <a:ext cx="19202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7B09A"/>
                </a:solidFill>
                <a:latin typeface="Calibri"/>
              </a:rPr>
              <a:t>Изношенное сдаётся — затем выдаётся новое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59" y="2194560"/>
            <a:ext cx="2194560" cy="329184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19" y="2377440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8FA86A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2971800"/>
            <a:ext cx="1920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6DCC4"/>
                </a:solidFill>
                <a:latin typeface="Calibri"/>
              </a:rPr>
              <a:t>Учёт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19" y="3657600"/>
            <a:ext cx="19202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7B09A"/>
                </a:solidFill>
                <a:latin typeface="Calibri"/>
              </a:rPr>
              <a:t>Карточка, аттестат, акты преждевременного износа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Складская логистика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B09A"/>
                </a:solidFill>
                <a:latin typeface="Calibri"/>
              </a:rPr>
              <a:t>Отпуск с ЦМТО — по нарядам вещевой службы округа по ростовке.</a:t>
            </a:r>
          </a:p>
        </p:txBody>
      </p:sp>
      <p:pic>
        <p:nvPicPr>
          <p:cNvPr id="6" name="Picture 5" descr="ware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5669280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0" y="1965960"/>
            <a:ext cx="493776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21488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C9A85C"/>
                </a:solidFill>
                <a:latin typeface="Georgia"/>
              </a:rPr>
              <a:t>В обеспеченности учитывают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65176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Всё новое имущество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Б/у, срок которого не истекает в периоде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Инвентарное, выслужившее срок, но годное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Ростовка = % предметов разных размеров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Подменный фонд — из сданного годного имущества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7B09A"/>
                </a:solidFill>
                <a:latin typeface="Calibri"/>
              </a:rPr>
              <a:t>•  Рабочая одежда призывникам — до 100% численности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Документы и учёт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3055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Карточка вещевого довольствия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Основной личный учёт выдач и сроков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Первая точка сверки «что положено»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6596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3055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Аттестат военнослужащего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46888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При переводе фиксирует следующее имущество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ВКПО, лётное, техническое, ССО, исключения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6596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13055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Наряды / акты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Складской отпуск по ростовке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Акты при преждевременном износе и списании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24301F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39496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6DCC4"/>
                </a:solidFill>
                <a:latin typeface="Calibri"/>
              </a:rPr>
              <a:t>При увольнении к дню исключения из списков инвентарь сдаётся; военнослужащий обеспечивается положенным имуществом личного пользования.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Денежная компенсация вместо вещевого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B09A"/>
                </a:solidFill>
                <a:latin typeface="Calibri"/>
              </a:rPr>
              <a:t>Основание — ст. 14 Закона № 76-ФЗ и Правила к ПП № 390.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2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Кому доступно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5166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Отдельным категориям контрактников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Вместо предметов личного пользования (не любого инвентаря)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Обычно после истечения срока носки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При увольнении — за неполученное (по правилам)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Размеры — по решениям Правительства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965960"/>
            <a:ext cx="521208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30552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Алгоритм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68880"/>
            <a:ext cx="4892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Проверить право категории по Правилам к ПП № 390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Подать рапорт на имя командира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Справка вещевой службы о неполучении / сроках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Финансовая служба производит выплату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Стоимость — в т. ч. по Распоряжению № 1014-р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РАЗДЕЛ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Банно-прачечное обслуживание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3055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Что входит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Помывка личного состава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Стирка белья и обмундирования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Банный инвентарь и моющие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Ремонт имущества вещслужбы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6596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3055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Нормы расхода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46888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В приложениях к приказу № 500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Банный инвентарь, моющие, ремматериалы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Средства ухода за обувью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Оборудование прачечных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6596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13055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Постельные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Инвентарь подразделения / коечного фонда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Полотенца для ног — из выслуживших срок, но годных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Учёт и нормы содержания на койку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АКТУАЛЬНО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Изменения 2024–2025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30552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Приказ МО № 367 от 27.06.2024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5166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Изменения норм снабжения к приказу № 500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Специальное, санитарно-хозяйственное, спортивное имущество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Зарегистрирован в Минюсте 07.08.2024 № 79039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Пример: дополнение нормы № 32 — экипировка для регби-7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965960"/>
            <a:ext cx="521208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30552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ПП РФ № 1116 от 28.07.2025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68880"/>
            <a:ext cx="4892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Изменения в постановление № 390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Приостановка до 31.12.2030 выдачи отдельных предметов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Перечень — в постановлении (в т. ч. отдельные предметы авиации/ПВО)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Перед планированием сверяйте актуальную редакцию ПП № 390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ПРАКТИКА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Чек-лист военнослужащего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30552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При прибытии / контракте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5166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Пройти обмер и примерку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Получить комплект по норме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Проверить записи в карточке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Уточнить климатическую норму части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Сохранить сведения о сроках носки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965960"/>
            <a:ext cx="5212080" cy="4023360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30552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85C"/>
                </a:solidFill>
                <a:latin typeface="Georgia"/>
              </a:rPr>
              <a:t>В ходе службы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68880"/>
            <a:ext cx="4892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Менять имущество по срокам, не выбрасывая инвентарь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При преждевременном износе по службе — акт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При переводе — корректный аттестат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При праве на компенсацию — рапорт + справка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09A"/>
                </a:solidFill>
                <a:latin typeface="Calibri"/>
              </a:rPr>
              <a:t>•  Перед увольнением — сдать инвентарь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A85C"/>
                </a:solidFill>
                <a:latin typeface="Calibri"/>
              </a:rPr>
              <a:t>СПРАВКИ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6DCC4"/>
                </a:solidFill>
                <a:latin typeface="Georgia"/>
              </a:rPr>
              <a:t>Основные источники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7B09A"/>
                </a:solidFill>
                <a:latin typeface="Calibri"/>
              </a:rPr>
              <a:t>Презентация обзорная; юридически значимы полные тексты в актуальной редакции.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972800" cy="621792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79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9A85C"/>
                </a:solidFill>
                <a:latin typeface="Georgia"/>
              </a:rPr>
              <a:t>76-ФЗ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011679"/>
            <a:ext cx="8321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7B09A"/>
                </a:solidFill>
                <a:latin typeface="Calibri"/>
              </a:rPr>
              <a:t>Федеральный закон «О статусе военнослужащих», ст.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10972800" cy="621792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9A85C"/>
                </a:solidFill>
                <a:latin typeface="Georgia"/>
              </a:rPr>
              <a:t>ПП № 390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97480"/>
            <a:ext cx="8321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7B09A"/>
                </a:solidFill>
                <a:latin typeface="Calibri"/>
              </a:rPr>
              <a:t>Постановление Правительства РФ от 22.06.2006 № 390 (изм. ПП № 1116/2025)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46120"/>
            <a:ext cx="10972800" cy="621792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8328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9A85C"/>
                </a:solidFill>
                <a:latin typeface="Georgia"/>
              </a:rPr>
              <a:t>МО № 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383280"/>
            <a:ext cx="8321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7B09A"/>
                </a:solidFill>
                <a:latin typeface="Calibri"/>
              </a:rPr>
              <a:t>Приказ Министра обороны РФ от 14.08.2017 № 500 (ред. от 27.06.2024)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10972800" cy="621792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9A85C"/>
                </a:solidFill>
                <a:latin typeface="Georgia"/>
              </a:rPr>
              <a:t>МО № 367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069080"/>
            <a:ext cx="8321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7B09A"/>
                </a:solidFill>
                <a:latin typeface="Calibri"/>
              </a:rPr>
              <a:t>Приказ Министра обороны РФ от 27.06.2024 № 367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17720"/>
            <a:ext cx="10972800" cy="621792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5488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9A85C"/>
                </a:solidFill>
                <a:latin typeface="Georgia"/>
              </a:rPr>
              <a:t>ГОСТ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754880"/>
            <a:ext cx="8321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7B09A"/>
                </a:solidFill>
                <a:latin typeface="Calibri"/>
              </a:rPr>
              <a:t>ГОСТ 23167-91, ГОСТ 20881-91 — типовые фигуры и шкалы размеров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03520"/>
            <a:ext cx="10972800" cy="621792"/>
          </a:xfrm>
          <a:prstGeom prst="roundRect">
            <a:avLst>
              <a:gd name="adj" fmla="val 8000"/>
            </a:avLst>
          </a:prstGeom>
          <a:solidFill>
            <a:srgbClr val="1B2216"/>
          </a:solidFill>
          <a:ln w="12700">
            <a:solidFill>
              <a:srgbClr val="3A4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9A85C"/>
                </a:solidFill>
                <a:latin typeface="Georgia"/>
              </a:rPr>
              <a:t>1014-р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440680"/>
            <a:ext cx="8321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7B09A"/>
                </a:solidFill>
                <a:latin typeface="Calibri"/>
              </a:rPr>
              <a:t>Распоряжение Правительства РФ от 25.05.2016 № 1014-р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C9A85C"/>
                </a:solidFill>
                <a:latin typeface="Calibri"/>
              </a:rPr>
              <a:t>ВЕЩЕВАЯ СЛУЖБА ВС РФ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E6DCC4"/>
                </a:solidFill>
                <a:latin typeface="Georgia"/>
              </a:rPr>
              <a:t>Готовность начинается
с обеспечения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B7B09A"/>
                </a:solidFill>
                <a:latin typeface="Calibri"/>
              </a:rPr>
              <a:t>Норма → ростовка → выдача → носка → замена.
Полный цикл держится на приказе № 500, постановлении № 390 и дисциплине учёта в воинской части.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B7B09A"/>
                </a:solidFill>
                <a:latin typeface="Calibri"/>
              </a:rPr>
              <a:t>Вещевая служба ВС РФ  ·  справочный обзор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9A85C"/>
                </a:solidFill>
                <a:latin typeface="Calibri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